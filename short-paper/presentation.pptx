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Evolutionary HyperNet-InfoGAN Baselines</a:t>
            </a:r>
            <a:br/>
            <a:r>
              <a:t>for Controllable Synthetic Image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</a:defRPr>
            </a:pPr>
            <a:r>
              <a:t>Mark Nuppnau, Khalid Kattan, R.G. Reynolds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</a:defRPr>
            </a:pPr>
            <a:r>
              <a:t>Wayne State University  |  University of Michigan - Dearborn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EC9B0"/>
                </a:solidFill>
              </a:defRPr>
            </a:pPr>
            <a:r>
              <a:t>AAAI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Medical synthetic data must be controllable and auditable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InfoGAN encourages disentangled, interpretable latent structure without supervision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Prior work: PGPE evolved generator directly over &gt;500k parameters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  - Duplicate modes formed early and persisted permanently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  - Partial mode coverage (typically missing 1+ digit classes)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Key question: Can a smaller, structured search space fix these failure modes?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Architecture: HyperNet-InfoGAN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PGPE evolves a compact HyperNetwork (~32k params)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HyperNetwork generates full Generator weights (~225k params)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Generator produces images conditioned on structured latent codes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  z = [noise(62), discrete(8 or 10), continuous(2)]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Discriminator/Q-network trained with backpropagation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Shared-z protocol: same noise, varying discrete code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  → Differences isolate code-dependent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754880" cy="41148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4EC9B0"/>
                </a:solidFill>
              </a:defRPr>
            </a:pPr>
            <a:r>
              <a:t>Key Insight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Direct encoding: PGPE over 500k+ params</a:t>
            </a:r>
          </a:p>
          <a:p>
            <a:pPr algn="ctr">
              <a:defRPr sz="1600">
                <a:solidFill>
                  <a:srgbClr val="4EC9B0"/>
                </a:solidFill>
              </a:defRPr>
            </a:pPr>
            <a:r>
              <a:t>→ Duplicate modes become permanent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Indirect encoding: PGPE over ~32k params</a:t>
            </a:r>
          </a:p>
          <a:p>
            <a:pPr algn="ctr">
              <a:defRPr sz="1600">
                <a:solidFill>
                  <a:srgbClr val="4EC9B0"/>
                </a:solidFill>
              </a:defRPr>
            </a:pPr>
            <a:r>
              <a:t>→ Duplicate modes resolve during training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7x reduction in search dimensionality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enables coordinated parameter changes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MNIST: Duplicate Modes Resolve with Indirect 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</a:defRPr>
            </a:pPr>
            <a:r>
              <a:t>Direct: Duplicate '0'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AA"/>
                </a:solidFill>
              </a:defRPr>
            </a:pPr>
            <a:r>
              <a:t>21k iterations</a:t>
            </a:r>
          </a:p>
        </p:txBody>
      </p:sp>
      <p:pic>
        <p:nvPicPr>
          <p:cNvPr id="6" name="Picture 5" descr="mnist-0-21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3108960" cy="1758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AA"/>
                </a:solidFill>
              </a:defRPr>
            </a:pPr>
            <a:r>
              <a:t>198k iterations</a:t>
            </a:r>
          </a:p>
        </p:txBody>
      </p:sp>
      <p:pic>
        <p:nvPicPr>
          <p:cNvPr id="8" name="Picture 7" descr="mnist-0-198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89120"/>
            <a:ext cx="3108960" cy="17642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</a:defRPr>
            </a:pPr>
            <a:r>
              <a:t>Direct: Duplicate '1'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AA"/>
                </a:solidFill>
              </a:defRPr>
            </a:pPr>
            <a:r>
              <a:t>21k iterations</a:t>
            </a:r>
          </a:p>
        </p:txBody>
      </p:sp>
      <p:pic>
        <p:nvPicPr>
          <p:cNvPr id="11" name="Picture 10" descr="mnist-1-21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011680"/>
            <a:ext cx="3108960" cy="17577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06240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AA"/>
                </a:solidFill>
              </a:defRPr>
            </a:pPr>
            <a:r>
              <a:t>198k iterations</a:t>
            </a:r>
          </a:p>
        </p:txBody>
      </p:sp>
      <p:pic>
        <p:nvPicPr>
          <p:cNvPr id="13" name="Picture 12" descr="mnist-1-198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4389120"/>
            <a:ext cx="3108960" cy="17699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3816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</a:defRPr>
            </a:pPr>
            <a:r>
              <a:t>Indirect (HyperNet)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AA"/>
                </a:solidFill>
              </a:defRPr>
            </a:pPr>
            <a:r>
              <a:t>21k iterations</a:t>
            </a:r>
          </a:p>
        </p:txBody>
      </p:sp>
      <p:pic>
        <p:nvPicPr>
          <p:cNvPr id="16" name="Picture 15" descr="mnist-hn-21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2011680"/>
            <a:ext cx="3108960" cy="176346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38160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AA"/>
                </a:solidFill>
              </a:defRPr>
            </a:pPr>
            <a:r>
              <a:t>198k iterations</a:t>
            </a:r>
          </a:p>
        </p:txBody>
      </p:sp>
      <p:pic>
        <p:nvPicPr>
          <p:cNvPr id="18" name="Picture 17" descr="mnist-hn-198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4389120"/>
            <a:ext cx="3108960" cy="17765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2480" y="6400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</a:defRPr>
            </a:pPr>
            <a:r>
              <a:t>HyperNet resolves all 10 digits 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MNIST: Quantitative Progression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</a:defRPr>
                      </a:pPr>
                      <a:r>
                        <a:t>Iteration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</a:defRPr>
                      </a:pPr>
                      <a:r>
                        <a:t>Covered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</a:defRPr>
                      </a:pPr>
                      <a:r>
                        <a:t>Dups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</a:defRPr>
                      </a:pPr>
                      <a:r>
                        <a:t>mi_avg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</a:defRPr>
                      </a:pPr>
                      <a:r>
                        <a:t>mi_max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</a:defRPr>
                      </a:pPr>
                      <a:r>
                        <a:t>r_sense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</a:defRPr>
                      </a:pPr>
                      <a:r>
                        <a:t>r_intra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</a:defRPr>
                      </a:pPr>
                      <a:r>
                        <a:t>Spread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B1B2F"/>
                          </a:solidFill>
                        </a:defRPr>
                      </a:pPr>
                      <a:r>
                        <a:t>RFL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21k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7/10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0.034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0.065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0.170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0.913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0.032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0.606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198k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10/10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0.091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0.094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0.138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0.892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0.029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0.581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11480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Early training: 7/10 coverage, 3 duplicate assignments, high raw separation (0.170)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Late training: 10/10 coverage, 0 duplicates, MI more than doubles (0.034 → 0.091)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r_sense decreases moderately — cleaner allocation over raw separation magnitude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Adversarial balance remains stable throughout (RFL ≈ 0.58)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BloodMNIST: A Harder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AA"/>
                </a:solidFill>
              </a:defRPr>
            </a:pPr>
            <a:r>
              <a:t>8 cell types with shared visual factors and class-varying nucleus morphology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8 classes: Basophil, Eosinophil, Erythroblast, Imm. Granulocytes,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    Lymphocyte, Monocyte, Neutrophil, Platelet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Shared factors: surrounding red blood cells, circular cell boundary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Varying factors: nucleus size, shape, lobulation, cytoplasm thickness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Discriminative signal concentrated in nucleus morphology</a:t>
            </a:r>
          </a:p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</a:defRPr>
            </a:pPr>
            <a:r>
              <a:t>Same architecture and fitness schedule as MNIST — no dataset-specific tuning</a:t>
            </a:r>
          </a:p>
        </p:txBody>
      </p:sp>
      <p:pic>
        <p:nvPicPr>
          <p:cNvPr id="6" name="Picture 5" descr="immature-ranulocytes-class-3-1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572000" cy="8882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Immature Granulocytes</a:t>
            </a:r>
          </a:p>
        </p:txBody>
      </p:sp>
      <p:pic>
        <p:nvPicPr>
          <p:cNvPr id="8" name="Picture 7" descr="neutrophil-class-6-1-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474720"/>
            <a:ext cx="4572000" cy="880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Neutrophils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BloodMNIST: Visual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EC9B0"/>
                </a:solidFill>
              </a:defRPr>
            </a:pPr>
            <a:r>
              <a:t>Iteration 34k</a:t>
            </a:r>
          </a:p>
        </p:txBody>
      </p:sp>
      <p:pic>
        <p:nvPicPr>
          <p:cNvPr id="5" name="Picture 4" descr="blood-mnist-3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37360"/>
            <a:ext cx="3383280" cy="3198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303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</a:defRPr>
            </a:pPr>
            <a:r>
              <a:t>Generic cell template,</a:t>
            </a:r>
            <a:br/>
            <a:r>
              <a:t>irregular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EC9B0"/>
                </a:solidFill>
              </a:defRPr>
            </a:pPr>
            <a:r>
              <a:t>Iteration 115k</a:t>
            </a:r>
          </a:p>
        </p:txBody>
      </p:sp>
      <p:pic>
        <p:nvPicPr>
          <p:cNvPr id="8" name="Picture 7" descr="blood-mnist-115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37360"/>
            <a:ext cx="3383280" cy="32042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0" y="5303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</a:defRPr>
            </a:pPr>
            <a:r>
              <a:t>Rounder cells, nuclei</a:t>
            </a:r>
            <a:br/>
            <a:r>
              <a:t>begin differentiating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EC9B0"/>
                </a:solidFill>
              </a:defRPr>
            </a:pPr>
            <a:r>
              <a:t>Iteration 289k</a:t>
            </a:r>
          </a:p>
        </p:txBody>
      </p:sp>
      <p:pic>
        <p:nvPicPr>
          <p:cNvPr id="11" name="Picture 10" descr="blood-mnist-289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737360"/>
            <a:ext cx="3383280" cy="32144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0" y="5303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</a:defRPr>
            </a:pPr>
            <a:r>
              <a:t>Richer texture, smoother,</a:t>
            </a:r>
            <a:br/>
            <a:r>
              <a:t>but shared template persists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BloodMNIST: Quantitative Progression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828800"/>
          <a:ext cx="9418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720"/>
                <a:gridCol w="1569720"/>
                <a:gridCol w="1569720"/>
                <a:gridCol w="1569720"/>
                <a:gridCol w="1569720"/>
                <a:gridCol w="15697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1B2F"/>
                          </a:solidFill>
                        </a:defRPr>
                      </a:pPr>
                      <a:r>
                        <a:t>Iteration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1B2F"/>
                          </a:solidFill>
                        </a:defRPr>
                      </a:pPr>
                      <a:r>
                        <a:t>mi_avg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1B2F"/>
                          </a:solidFill>
                        </a:defRPr>
                      </a:pPr>
                      <a:r>
                        <a:t>r_sense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1B2F"/>
                          </a:solidFill>
                        </a:defRPr>
                      </a:pPr>
                      <a:r>
                        <a:t>r_intra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1B2F"/>
                          </a:solidFill>
                        </a:defRPr>
                      </a:pPr>
                      <a:r>
                        <a:t>ProtoCorr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1B2F"/>
                          </a:solidFill>
                        </a:defRPr>
                      </a:pPr>
                      <a:r>
                        <a:t>RFL</a:t>
                      </a:r>
                    </a:p>
                  </a:txBody>
                  <a:tcPr>
                    <a:solidFill>
                      <a:srgbClr val="4EC9B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34k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0.077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0.170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0.560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0.681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0.523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115k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0.086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0.161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0.647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0.633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0.561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289k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0.092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0.155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0.910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0.701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0.584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3931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MI steadily improves (0.077 → 0.092) — codes carry increasing information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r_intra rises strongly (0.56 → 0.91) — within-code consistency improves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ProtoCorr increases late — template similarity returns as codes refine shared features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RFL stable throughout (0.52–0.58) — no mode collapse or divergence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Partial disentanglement: biological plausibility improves, but codes don't fully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    separate into distinct hematologic morphologies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Trust Relevance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</a:defRPr>
            </a:pPr>
            <a:r>
              <a:t>What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Stable adversarial training on both datasets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Full MNIST digit coverage (10/10)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Duplicate modes resolve (not permanent)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BloodMNIST: realistic cell morphology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Latent control is auditable and inspectable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500"/>
                </a:solidFill>
              </a:defRPr>
            </a:pPr>
            <a:r>
              <a:t>Remaining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BloodMNIST codes don't map to 8 distinct cell types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Disentanglement via low-cost geometric proxies: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  cell size, nucleus position, orientation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Mathematical code separation ≠ biological separation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Static fitness weights vulnerable to shortcuts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27432" cy="411480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Conclusion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FFFFF"/>
                </a:solidFill>
              </a:defRPr>
            </a:pPr>
            <a:r>
              <a:t>Indirect encoding via HyperNetwork fundamentally changes trainability</a:t>
            </a:r>
          </a:p>
          <a:p>
            <a:pPr>
              <a:spcAft>
                <a:spcPts val="800"/>
              </a:spcAft>
              <a:defRPr sz="2100">
                <a:solidFill>
                  <a:srgbClr val="FFFFFF"/>
                </a:solidFill>
              </a:defRPr>
            </a:pPr>
            <a:r>
              <a:t>    • 7x parameter reduction enables PGPE to resolve duplicate modes</a:t>
            </a:r>
          </a:p>
          <a:p>
            <a:pPr>
              <a:spcAft>
                <a:spcPts val="800"/>
              </a:spcAft>
              <a:defRPr sz="2100">
                <a:solidFill>
                  <a:srgbClr val="FFFFFF"/>
                </a:solidFill>
              </a:defRPr>
            </a:pPr>
            <a:r>
              <a:t>    • Same architecture transfers from MNIST to BloodMNIST without modification</a:t>
            </a:r>
          </a:p>
          <a:p>
            <a:pPr>
              <a:spcAft>
                <a:spcPts val="800"/>
              </a:spcAft>
              <a:defRPr sz="21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100">
                <a:solidFill>
                  <a:srgbClr val="FFFFFF"/>
                </a:solidFill>
              </a:defRPr>
            </a:pPr>
            <a:r>
              <a:t>BloodMNIST reveals the gap: MI-driven disentanglement ≠ biological separation</a:t>
            </a:r>
          </a:p>
          <a:p>
            <a:pPr>
              <a:spcAft>
                <a:spcPts val="800"/>
              </a:spcAft>
              <a:defRPr sz="2100">
                <a:solidFill>
                  <a:srgbClr val="FFFFFF"/>
                </a:solidFill>
              </a:defRPr>
            </a:pPr>
            <a:r>
              <a:t>    • Static fitness functions are vulnerable to geometric shortcuts</a:t>
            </a:r>
          </a:p>
          <a:p>
            <a:pPr>
              <a:spcAft>
                <a:spcPts val="800"/>
              </a:spcAft>
              <a:defRPr sz="21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100">
                <a:solidFill>
                  <a:srgbClr val="FFFFFF"/>
                </a:solidFill>
              </a:defRPr>
            </a:pPr>
            <a:r>
              <a:t>Next step: Cultural Algorithms (CA) as meta-level controller</a:t>
            </a:r>
          </a:p>
          <a:p>
            <a:pPr>
              <a:spcAft>
                <a:spcPts val="800"/>
              </a:spcAft>
              <a:defRPr sz="2100">
                <a:solidFill>
                  <a:srgbClr val="FFFFFF"/>
                </a:solidFill>
              </a:defRPr>
            </a:pPr>
            <a:r>
              <a:t>    • Adaptive fitness weighting during training</a:t>
            </a:r>
          </a:p>
          <a:p>
            <a:pPr>
              <a:spcAft>
                <a:spcPts val="800"/>
              </a:spcAft>
              <a:defRPr sz="2100">
                <a:solidFill>
                  <a:srgbClr val="FFFFFF"/>
                </a:solidFill>
              </a:defRPr>
            </a:pPr>
            <a:r>
              <a:t>    • Morphology-aware priors to align codes with clinical structure</a:t>
            </a:r>
          </a:p>
          <a:p>
            <a:pPr>
              <a:spcAft>
                <a:spcPts val="800"/>
              </a:spcAft>
              <a:defRPr sz="2100">
                <a:solidFill>
                  <a:srgbClr val="FFFFFF"/>
                </a:solidFill>
              </a:defRPr>
            </a:pPr>
            <a:r>
              <a:t>    • Semantic trap detection to prevent shortcut exploitation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EC9B0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</a:defRPr>
            </a:pPr>
            <a:r>
              <a:t>Mark Nuppnau  •  robert.reynolds@wayne.edu  •  Wayne State University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